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Tiburón dentro del agua&#10;&#10;El contenido generado por IA puede ser incorrecto.">
            <a:extLst>
              <a:ext uri="{FF2B5EF4-FFF2-40B4-BE49-F238E27FC236}">
                <a16:creationId xmlns:a16="http://schemas.microsoft.com/office/drawing/2014/main" id="{44A3070D-FAFD-39C2-7F49-D3778E8A42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36"/>
          <a:stretch/>
        </p:blipFill>
        <p:spPr>
          <a:xfrm>
            <a:off x="0" y="0"/>
            <a:ext cx="10401300" cy="693174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AD66D735-2A93-4326-E958-B49A5E30FA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2669" y="5565264"/>
            <a:ext cx="7772400" cy="1470025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Proyecto: EDA</a:t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endParaRPr dirty="0">
              <a:solidFill>
                <a:schemeClr val="bg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DFBC510-9315-F295-0521-9D74A01064C3}"/>
              </a:ext>
            </a:extLst>
          </p:cNvPr>
          <p:cNvSpPr txBox="1">
            <a:spLocks/>
          </p:cNvSpPr>
          <p:nvPr/>
        </p:nvSpPr>
        <p:spPr>
          <a:xfrm>
            <a:off x="685799" y="552910"/>
            <a:ext cx="7919269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ct val="20000"/>
              </a:spcBef>
              <a:buFont typeface="Arial"/>
              <a:buNone/>
              <a:defRPr/>
            </a:pPr>
            <a:r>
              <a:rPr lang="es-ES" sz="4000" dirty="0">
                <a:solidFill>
                  <a:schemeClr val="bg1"/>
                </a:solidFill>
              </a:rPr>
              <a:t>ATAQUES DE TIBURÓN EN EL MUNDO</a:t>
            </a:r>
            <a:br>
              <a:rPr lang="es-ES" dirty="0">
                <a:solidFill>
                  <a:schemeClr val="bg1"/>
                </a:solidFill>
              </a:rPr>
            </a:br>
            <a:br>
              <a:rPr lang="es-ES" dirty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</a:br>
            <a:endParaRPr lang="es-E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705" y="769509"/>
            <a:ext cx="8229600" cy="778541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3200" b="1"/>
            </a:pPr>
            <a:r>
              <a:rPr kumimoji="0" lang="es-E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¿Como actuar si eres víctima de un ataque de tiburón?</a:t>
            </a:r>
            <a:br>
              <a:rPr kumimoji="0" lang="es-E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05705" y="1811739"/>
            <a:ext cx="617207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 Mantén la calma y no hagas movimientos bruscos ⚠️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/>
            </a:pPr>
            <a:endParaRPr kumimoji="0" lang="es-E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2. Mantén siempre al tiburón a la vista 👁️</a:t>
            </a:r>
          </a:p>
        </p:txBody>
      </p:sp>
      <p:pic>
        <p:nvPicPr>
          <p:cNvPr id="5" name="Picture 4" descr="shark_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7465" y="4458216"/>
            <a:ext cx="3268944" cy="1691763"/>
          </a:xfrm>
          <a:prstGeom prst="rect">
            <a:avLst/>
          </a:prstGeom>
        </p:spPr>
      </p:pic>
      <p:pic>
        <p:nvPicPr>
          <p:cNvPr id="14" name="Imagen 13" descr="Persona en tabla de surf en el mar&#10;&#10;El contenido generado por IA puede ser incorrecto.">
            <a:extLst>
              <a:ext uri="{FF2B5EF4-FFF2-40B4-BE49-F238E27FC236}">
                <a16:creationId xmlns:a16="http://schemas.microsoft.com/office/drawing/2014/main" id="{32065AE2-0C0C-557B-B2EB-1D99BB5263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970" b="5719"/>
          <a:stretch/>
        </p:blipFill>
        <p:spPr>
          <a:xfrm>
            <a:off x="827534" y="4458216"/>
            <a:ext cx="4068103" cy="2011834"/>
          </a:xfrm>
          <a:prstGeom prst="rect">
            <a:avLst/>
          </a:prstGeom>
        </p:spPr>
      </p:pic>
      <p:sp>
        <p:nvSpPr>
          <p:cNvPr id="16" name="TextBox 3">
            <a:extLst>
              <a:ext uri="{FF2B5EF4-FFF2-40B4-BE49-F238E27FC236}">
                <a16:creationId xmlns:a16="http://schemas.microsoft.com/office/drawing/2014/main" id="{D4E58CA5-A22D-332D-7D78-35277C4DA68E}"/>
              </a:ext>
            </a:extLst>
          </p:cNvPr>
          <p:cNvSpPr txBox="1"/>
          <p:nvPr/>
        </p:nvSpPr>
        <p:spPr>
          <a:xfrm>
            <a:off x="405705" y="2680240"/>
            <a:ext cx="632436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/>
            </a:pPr>
            <a:endParaRPr kumimoji="0" lang="es-E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3. Defiéndete solo si es necesario (Hocico, ojos, 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braqueas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🛡️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/>
            </a:pPr>
            <a:endParaRPr kumimoji="0" lang="es-E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4. Ve hacia la orilla o la embarcación lo antes posible 🏄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/>
            </a:pPr>
            <a:endParaRPr kumimoji="0" lang="es-E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/>
            </a:pPr>
            <a:endParaRPr kumimoji="0" lang="es-E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/>
            </a:pPr>
            <a:endParaRPr kumimoji="0" lang="es-E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1947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60138" y="1589782"/>
            <a:ext cx="71483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 sz="1800"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Slack-Lato"/>
                <a:ea typeface="+mn-ea"/>
                <a:cs typeface="+mn-cs"/>
              </a:rPr>
              <a:t>Los ataques de tiburón han aumentado en las últimas décadas.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sz="1800"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srgbClr val="1D1C1D"/>
              </a:solidFill>
              <a:effectLst/>
              <a:uLnTx/>
              <a:uFillTx/>
              <a:latin typeface="Slack-Lato"/>
              <a:ea typeface="+mn-ea"/>
              <a:cs typeface="+mn-cs"/>
            </a:endParaRP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sz="1800"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srgbClr val="1D1C1D"/>
              </a:solidFill>
              <a:effectLst/>
              <a:uLnTx/>
              <a:uFillTx/>
              <a:latin typeface="Slack-Lato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 sz="1800"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srgbClr val="1D1C1D"/>
              </a:solidFill>
              <a:effectLst/>
              <a:uLnTx/>
              <a:uFillTx/>
              <a:latin typeface="Slack-Lato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0138" y="4529554"/>
            <a:ext cx="863227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endParaRPr lang="es-ES" dirty="0">
              <a:solidFill>
                <a:srgbClr val="1D1C1D"/>
              </a:solidFill>
              <a:latin typeface="Slack-Lato"/>
            </a:endParaRPr>
          </a:p>
          <a:p>
            <a:pPr marL="342900" indent="-342900">
              <a:buAutoNum type="arabicPeriod" startAt="3"/>
              <a:defRPr sz="1800"/>
            </a:pPr>
            <a:endParaRPr lang="es-ES" dirty="0">
              <a:solidFill>
                <a:srgbClr val="1D1C1D"/>
              </a:solidFill>
              <a:latin typeface="Slack-Lato"/>
            </a:endParaRPr>
          </a:p>
          <a:p>
            <a:pPr marL="342900" indent="-342900">
              <a:buFont typeface="+mj-lt"/>
              <a:buAutoNum type="arabicPeriod" startAt="4"/>
              <a:defRPr sz="1800"/>
            </a:pPr>
            <a:r>
              <a:rPr lang="es-ES" b="0" i="0" dirty="0">
                <a:solidFill>
                  <a:srgbClr val="1D1C1D"/>
                </a:solidFill>
                <a:effectLst/>
                <a:latin typeface="Slack-Lato"/>
              </a:rPr>
              <a:t>Las actividades de buceo o pesca submarina tienen una mayor tasa de mortalidad.    </a:t>
            </a:r>
          </a:p>
          <a:p>
            <a:pPr marL="342900" indent="-342900">
              <a:buAutoNum type="arabicPeriod" startAt="4"/>
              <a:defRPr sz="1800"/>
            </a:pPr>
            <a:endParaRPr lang="es-ES" dirty="0">
              <a:solidFill>
                <a:srgbClr val="1D1C1D"/>
              </a:solidFill>
              <a:latin typeface="Slack-Lato"/>
            </a:endParaRPr>
          </a:p>
          <a:p>
            <a:pPr marL="342900" indent="-342900">
              <a:buAutoNum type="arabicPeriod" startAt="4"/>
              <a:defRPr sz="1800"/>
            </a:pPr>
            <a:r>
              <a:rPr lang="es-ES" b="0" i="0" dirty="0">
                <a:solidFill>
                  <a:srgbClr val="1D1C1D"/>
                </a:solidFill>
                <a:effectLst/>
                <a:latin typeface="Slack-Lato"/>
              </a:rPr>
              <a:t>En Australia los ataques fatales son más frecuentes que en lo demás países.</a:t>
            </a:r>
            <a:endParaRPr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AB4D7A1-4B76-2EAB-651E-49D0620AA5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638" b="7966"/>
          <a:stretch/>
        </p:blipFill>
        <p:spPr>
          <a:xfrm>
            <a:off x="5461820" y="2870301"/>
            <a:ext cx="3008972" cy="1931459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9C97CC15-4400-199F-1731-FA5D05C7C77A}"/>
              </a:ext>
            </a:extLst>
          </p:cNvPr>
          <p:cNvSpPr txBox="1"/>
          <p:nvPr/>
        </p:nvSpPr>
        <p:spPr>
          <a:xfrm>
            <a:off x="889820" y="571996"/>
            <a:ext cx="75809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/>
            </a:pPr>
            <a:r>
              <a:rPr lang="es-ES" sz="3200" b="1" dirty="0">
                <a:solidFill>
                  <a:prstClr val="black"/>
                </a:solidFill>
                <a:latin typeface="Calibri"/>
              </a:rPr>
              <a:t>Objetivo principal e </a:t>
            </a:r>
            <a:r>
              <a:rPr kumimoji="0" lang="es-E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Hipótesis planteadas: 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C38CA3AA-5862-A9C6-3C35-A17B04B929A0}"/>
              </a:ext>
            </a:extLst>
          </p:cNvPr>
          <p:cNvSpPr txBox="1"/>
          <p:nvPr/>
        </p:nvSpPr>
        <p:spPr>
          <a:xfrm>
            <a:off x="560138" y="2026493"/>
            <a:ext cx="476894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sz="1800"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srgbClr val="1D1C1D"/>
              </a:solidFill>
              <a:effectLst/>
              <a:uLnTx/>
              <a:uFillTx/>
              <a:latin typeface="Slack-Lato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2"/>
              <a:tabLst/>
              <a:defRPr sz="1800"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Slack-Lato"/>
                <a:ea typeface="+mn-ea"/>
                <a:cs typeface="+mn-cs"/>
              </a:rPr>
              <a:t>El surf y la natación muestran una incidencia de ataques superior a la de otras actividades.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 startAt="2"/>
              <a:tabLst/>
              <a:defRPr sz="1800"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srgbClr val="1D1C1D"/>
              </a:solidFill>
              <a:effectLst/>
              <a:uLnTx/>
              <a:uFillTx/>
              <a:latin typeface="Slack-Lato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 startAt="2"/>
              <a:tabLst/>
              <a:defRPr sz="1800"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Slack-Lato"/>
                <a:ea typeface="+mn-ea"/>
                <a:cs typeface="+mn-cs"/>
              </a:rPr>
              <a:t>Los ataques afectan mayoritariamente a hombres.    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 startAt="2"/>
              <a:tabLst/>
              <a:defRPr sz="1800"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srgbClr val="1D1C1D"/>
              </a:solidFill>
              <a:effectLst/>
              <a:uLnTx/>
              <a:uFillTx/>
              <a:latin typeface="Slack-Lato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6427" y="621792"/>
            <a:ext cx="8631145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H1</a:t>
            </a:r>
            <a:r>
              <a:rPr lang="es-ES" dirty="0"/>
              <a:t>: </a:t>
            </a:r>
            <a:r>
              <a:rPr lang="es-ES" sz="2400" dirty="0"/>
              <a:t>Los ataques de tiburón han aumentado en las últimas décadas</a:t>
            </a:r>
          </a:p>
          <a:p>
            <a:pPr>
              <a:defRPr sz="2800" b="1"/>
            </a:pPr>
            <a:endParaRPr dirty="0"/>
          </a:p>
        </p:txBody>
      </p:sp>
      <p:pic>
        <p:nvPicPr>
          <p:cNvPr id="4" name="Picture 3" descr="ataques_por_añ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303" y="1757020"/>
            <a:ext cx="7889393" cy="44791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292993"/>
            <a:ext cx="924444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/>
            </a:pPr>
            <a:r>
              <a:rPr dirty="0"/>
              <a:t>H2</a:t>
            </a:r>
            <a:r>
              <a:rPr lang="es-ES" dirty="0"/>
              <a:t>:</a:t>
            </a:r>
            <a:r>
              <a:rPr dirty="0"/>
              <a:t> </a:t>
            </a:r>
            <a:r>
              <a:rPr lang="es-ES" sz="2400" dirty="0"/>
              <a:t>El surf y la natación padecen la mayor incidencia de ataques comparando a otras actividades</a:t>
            </a:r>
          </a:p>
          <a:p>
            <a:pPr>
              <a:defRPr sz="2800" b="1"/>
            </a:pPr>
            <a:endParaRPr lang="es-ES" dirty="0"/>
          </a:p>
          <a:p>
            <a:pPr>
              <a:defRPr sz="2800" b="1"/>
            </a:pPr>
            <a:endParaRPr dirty="0"/>
          </a:p>
        </p:txBody>
      </p:sp>
      <p:pic>
        <p:nvPicPr>
          <p:cNvPr id="4" name="Picture 3" descr="top_activida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561" y="1546616"/>
            <a:ext cx="7216877" cy="49509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06459" y="550366"/>
            <a:ext cx="71310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dirty="0"/>
              <a:t>H3</a:t>
            </a:r>
            <a:r>
              <a:rPr lang="es-ES" dirty="0"/>
              <a:t>:</a:t>
            </a:r>
            <a:r>
              <a:rPr dirty="0"/>
              <a:t> </a:t>
            </a:r>
            <a:r>
              <a:rPr lang="es-ES" sz="2400" b="1" dirty="0"/>
              <a:t>Los ataques afectan mayoritariamente a hombres</a:t>
            </a:r>
            <a:endParaRPr sz="2400" b="1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177635B-7291-3665-31BD-5F10B8EB4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316" y="1621536"/>
            <a:ext cx="4838105" cy="4573689"/>
          </a:xfrm>
          <a:prstGeom prst="rect">
            <a:avLst/>
          </a:prstGeom>
        </p:spPr>
      </p:pic>
      <p:sp>
        <p:nvSpPr>
          <p:cNvPr id="7" name="TextBox 3">
            <a:extLst>
              <a:ext uri="{FF2B5EF4-FFF2-40B4-BE49-F238E27FC236}">
                <a16:creationId xmlns:a16="http://schemas.microsoft.com/office/drawing/2014/main" id="{B1597B4D-F057-031A-2FBC-F8A613677A03}"/>
              </a:ext>
            </a:extLst>
          </p:cNvPr>
          <p:cNvSpPr txBox="1"/>
          <p:nvPr/>
        </p:nvSpPr>
        <p:spPr>
          <a:xfrm>
            <a:off x="5830448" y="3537645"/>
            <a:ext cx="301740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endParaRPr lang="es-ES" dirty="0"/>
          </a:p>
          <a:p>
            <a:pPr>
              <a:defRPr sz="2000"/>
            </a:pPr>
            <a:r>
              <a:rPr dirty="0"/>
              <a:t>• </a:t>
            </a:r>
            <a:r>
              <a:rPr lang="es-ES" dirty="0"/>
              <a:t>M: hombres</a:t>
            </a:r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dirty="0"/>
              <a:t>• </a:t>
            </a:r>
            <a:r>
              <a:rPr lang="es-ES" dirty="0"/>
              <a:t>F: mujeres</a:t>
            </a:r>
          </a:p>
          <a:p>
            <a:pPr>
              <a:defRPr sz="2000"/>
            </a:pPr>
            <a:endParaRPr lang="es-ES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UNKNOWN: desconocido</a:t>
            </a:r>
          </a:p>
          <a:p>
            <a:pPr>
              <a:defRPr sz="2000"/>
            </a:pPr>
            <a:endParaRPr lang="es-E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75966" y="460732"/>
            <a:ext cx="7792065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/>
            </a:pPr>
            <a:r>
              <a:rPr kumimoji="0" lang="es-E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H4: </a:t>
            </a:r>
            <a:r>
              <a:rPr lang="es-ES" sz="2400" b="1" dirty="0"/>
              <a:t>El buceo o  pesca submarina tienen la mayor tasa de mortalidad</a:t>
            </a:r>
            <a:endParaRPr sz="2400" b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827F203-B8EB-959D-0054-1027BA814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349" y="1583324"/>
            <a:ext cx="8165301" cy="48065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7693" y="323329"/>
            <a:ext cx="844861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/>
            </a:pPr>
            <a:r>
              <a:rPr dirty="0"/>
              <a:t>H5</a:t>
            </a:r>
            <a:r>
              <a:rPr lang="es-ES" dirty="0"/>
              <a:t>:</a:t>
            </a:r>
            <a:r>
              <a:rPr dirty="0"/>
              <a:t> </a:t>
            </a:r>
            <a:r>
              <a:rPr lang="es-ES" dirty="0"/>
              <a:t>En Australia los ataques fatales son más frecuentes que en lo demás países</a:t>
            </a:r>
          </a:p>
        </p:txBody>
      </p:sp>
      <p:pic>
        <p:nvPicPr>
          <p:cNvPr id="4" name="Picture 3" descr="hipotesis5_paises_mas_fat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205" y="1476631"/>
            <a:ext cx="7409590" cy="495971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725424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rPr dirty="0" err="1"/>
              <a:t>Conclusiones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358346" y="1997839"/>
            <a:ext cx="8427307" cy="286232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lang="es-ES" dirty="0"/>
              <a:t>• Mayoría de víctimas: hombres (~80%).</a:t>
            </a:r>
          </a:p>
          <a:p>
            <a:pPr>
              <a:defRPr sz="2000"/>
            </a:pPr>
            <a:endParaRPr lang="es-ES" dirty="0"/>
          </a:p>
          <a:p>
            <a:pPr>
              <a:defRPr sz="2000"/>
            </a:pPr>
            <a:r>
              <a:rPr lang="es-ES" dirty="0"/>
              <a:t>• Surf y natación concentran más incidentes.</a:t>
            </a:r>
          </a:p>
          <a:p>
            <a:pPr>
              <a:defRPr sz="2000"/>
            </a:pPr>
            <a:endParaRPr lang="es-ES" dirty="0"/>
          </a:p>
          <a:p>
            <a:pPr>
              <a:defRPr sz="2000"/>
            </a:pPr>
            <a:r>
              <a:rPr lang="es-ES" dirty="0"/>
              <a:t>• Buceo y pesca submarina: más probabilidad de que el ataque sea fatal.</a:t>
            </a:r>
          </a:p>
          <a:p>
            <a:pPr>
              <a:defRPr sz="2000"/>
            </a:pPr>
            <a:endParaRPr lang="es-ES" dirty="0"/>
          </a:p>
          <a:p>
            <a:pPr>
              <a:defRPr sz="2000"/>
            </a:pPr>
            <a:r>
              <a:rPr lang="es-ES" dirty="0"/>
              <a:t>• Australia destaca por número de ataques fatales.</a:t>
            </a:r>
          </a:p>
          <a:p>
            <a:pPr>
              <a:defRPr sz="2000"/>
            </a:pPr>
            <a:endParaRPr lang="es-ES" dirty="0"/>
          </a:p>
          <a:p>
            <a:pPr>
              <a:defRPr sz="2000"/>
            </a:pPr>
            <a:r>
              <a:rPr lang="es-ES" dirty="0"/>
              <a:t>• Los ataques aumentan con las décadas, en paralelo al uso recreativo del mar.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278</Words>
  <Application>Microsoft Office PowerPoint</Application>
  <PresentationFormat>Presentación en pantalla (4:3)</PresentationFormat>
  <Paragraphs>44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Slack-Lato</vt:lpstr>
      <vt:lpstr>Office Theme</vt:lpstr>
      <vt:lpstr>Proyecto: EDA </vt:lpstr>
      <vt:lpstr>¿Como actuar si eres víctima de un ataque de tiburón?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usuario</dc:creator>
  <cp:keywords/>
  <dc:description>generated using python-pptx</dc:description>
  <cp:lastModifiedBy>Mikel Lizarraga</cp:lastModifiedBy>
  <cp:revision>20</cp:revision>
  <dcterms:created xsi:type="dcterms:W3CDTF">2013-01-27T09:14:16Z</dcterms:created>
  <dcterms:modified xsi:type="dcterms:W3CDTF">2025-11-14T02:04:06Z</dcterms:modified>
  <cp:category/>
</cp:coreProperties>
</file>